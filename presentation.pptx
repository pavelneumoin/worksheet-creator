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ca94d001a49c0" /><Relationship Type="http://schemas.openxmlformats.org/officeDocument/2006/relationships/extended-properties" Target="/docProps/app.xml" Id="R42476e60cb7a48c1" /><Relationship Type="http://schemas.openxmlformats.org/officeDocument/2006/relationships/officeDocument" Target="/ppt/presentation.xml" Id="R27e69b1b018e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ce6c700ddc46d9"/>
  </p:sldMasterIdLst>
  <p:notesMasterIdLst>
    <p:notesMasterId xmlns:r="http://schemas.openxmlformats.org/officeDocument/2006/relationships" r:id="Rf1e0c8b7633141d3"/>
  </p:notesMasterIdLst>
  <p:sldIdLst>
    <p:sldId xmlns:r="http://schemas.openxmlformats.org/officeDocument/2006/relationships" id="256" r:id="R625805c1d36b4462"/>
    <p:sldId xmlns:r="http://schemas.openxmlformats.org/officeDocument/2006/relationships" id="257" r:id="R5d6e50d8a66d4bc8"/>
    <p:sldId xmlns:r="http://schemas.openxmlformats.org/officeDocument/2006/relationships" id="258" r:id="Raadaa687815e4746"/>
    <p:sldId xmlns:r="http://schemas.openxmlformats.org/officeDocument/2006/relationships" id="259" r:id="R01af90b021104229"/>
    <p:sldId xmlns:r="http://schemas.openxmlformats.org/officeDocument/2006/relationships" id="260" r:id="R8051497eec99463c"/>
    <p:sldId xmlns:r="http://schemas.openxmlformats.org/officeDocument/2006/relationships" id="261" r:id="R8ffd55a090cc4c17"/>
    <p:sldId xmlns:r="http://schemas.openxmlformats.org/officeDocument/2006/relationships" id="262" r:id="Rcd182ece6b944a8b"/>
    <p:sldId xmlns:r="http://schemas.openxmlformats.org/officeDocument/2006/relationships" id="263" r:id="R91a59db6d5874697"/>
    <p:sldId xmlns:r="http://schemas.openxmlformats.org/officeDocument/2006/relationships" id="264" r:id="R99d85d5fd78d45b2"/>
    <p:sldId xmlns:r="http://schemas.openxmlformats.org/officeDocument/2006/relationships" id="265" r:id="Rfe4d3dbb4be446f0"/>
    <p:sldId xmlns:r="http://schemas.openxmlformats.org/officeDocument/2006/relationships" id="266" r:id="Rb244f9513e27463d"/>
    <p:sldId xmlns:r="http://schemas.openxmlformats.org/officeDocument/2006/relationships" id="267" r:id="R797150c654534b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f021bd54a4c82" /><Relationship Type="http://schemas.openxmlformats.org/officeDocument/2006/relationships/slideMaster" Target="/ppt/slideMasters/slideMaster1.xml" Id="R33ce6c700ddc46d9" /><Relationship Type="http://schemas.openxmlformats.org/officeDocument/2006/relationships/notesMaster" Target="/ppt/notesMasters/notesMaster1.xml" Id="Rf1e0c8b7633141d3" /><Relationship Type="http://schemas.openxmlformats.org/officeDocument/2006/relationships/presProps" Target="/ppt/presProps.xml" Id="R645a52bbf5da4a5d" /><Relationship Type="http://schemas.openxmlformats.org/officeDocument/2006/relationships/tableStyles" Target="/ppt/tableStyles.xml" Id="Ree0b43a65a594542" /><Relationship Type="http://schemas.openxmlformats.org/officeDocument/2006/relationships/slide" Target="/ppt/slides/slide1.xml" Id="R625805c1d36b4462" /><Relationship Type="http://schemas.openxmlformats.org/officeDocument/2006/relationships/slide" Target="/ppt/slides/slide2.xml" Id="R5d6e50d8a66d4bc8" /><Relationship Type="http://schemas.openxmlformats.org/officeDocument/2006/relationships/slide" Target="/ppt/slides/slide3.xml" Id="Raadaa687815e4746" /><Relationship Type="http://schemas.openxmlformats.org/officeDocument/2006/relationships/slide" Target="/ppt/slides/slide4.xml" Id="R01af90b021104229" /><Relationship Type="http://schemas.openxmlformats.org/officeDocument/2006/relationships/slide" Target="/ppt/slides/slide5.xml" Id="R8051497eec99463c" /><Relationship Type="http://schemas.openxmlformats.org/officeDocument/2006/relationships/slide" Target="/ppt/slides/slide6.xml" Id="R8ffd55a090cc4c17" /><Relationship Type="http://schemas.openxmlformats.org/officeDocument/2006/relationships/slide" Target="/ppt/slides/slide7.xml" Id="Rcd182ece6b944a8b" /><Relationship Type="http://schemas.openxmlformats.org/officeDocument/2006/relationships/slide" Target="/ppt/slides/slide8.xml" Id="R91a59db6d5874697" /><Relationship Type="http://schemas.openxmlformats.org/officeDocument/2006/relationships/slide" Target="/ppt/slides/slide9.xml" Id="R99d85d5fd78d45b2" /><Relationship Type="http://schemas.openxmlformats.org/officeDocument/2006/relationships/slide" Target="/ppt/slides/slide10.xml" Id="Rfe4d3dbb4be446f0" /><Relationship Type="http://schemas.openxmlformats.org/officeDocument/2006/relationships/slide" Target="/ppt/slides/slide11.xml" Id="Rb244f9513e27463d" /><Relationship Type="http://schemas.openxmlformats.org/officeDocument/2006/relationships/slide" Target="/ppt/slides/slide12.xml" Id="R797150c654534b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9ba8003c7a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e5b29402441fb" /><Relationship Type="http://schemas.openxmlformats.org/officeDocument/2006/relationships/notesMaster" Target="/ppt/notesMasters/notesMaster1.xml" Id="R392d4fb3f584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edf53edac94c93" /><Relationship Type="http://schemas.openxmlformats.org/officeDocument/2006/relationships/notesMaster" Target="/ppt/notesMasters/notesMaster1.xml" Id="R915aa75e6d7243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26e08084146a2" /><Relationship Type="http://schemas.openxmlformats.org/officeDocument/2006/relationships/notesMaster" Target="/ppt/notesMasters/notesMaster1.xml" Id="R569091028ec54a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34a43a28a437c" /><Relationship Type="http://schemas.openxmlformats.org/officeDocument/2006/relationships/notesMaster" Target="/ppt/notesMasters/notesMaster1.xml" Id="Re6d2e4a9b4494f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a7f35aef684284" /><Relationship Type="http://schemas.openxmlformats.org/officeDocument/2006/relationships/notesMaster" Target="/ppt/notesMasters/notesMaster1.xml" Id="R01aa7172de9b43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1a16cfdcb84e27" /><Relationship Type="http://schemas.openxmlformats.org/officeDocument/2006/relationships/notesMaster" Target="/ppt/notesMasters/notesMaster1.xml" Id="R78355b1bf1d84a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cdc019eb824a73" /><Relationship Type="http://schemas.openxmlformats.org/officeDocument/2006/relationships/notesMaster" Target="/ppt/notesMasters/notesMaster1.xml" Id="R4dc201a06181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0ab781f0034685" /><Relationship Type="http://schemas.openxmlformats.org/officeDocument/2006/relationships/notesMaster" Target="/ppt/notesMasters/notesMaster1.xml" Id="R2bb9a50451644e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d9662a4d0d46ee" /><Relationship Type="http://schemas.openxmlformats.org/officeDocument/2006/relationships/notesMaster" Target="/ppt/notesMasters/notesMaster1.xml" Id="R7d4375aaeca94e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9615e977a04217" /><Relationship Type="http://schemas.openxmlformats.org/officeDocument/2006/relationships/notesMaster" Target="/ppt/notesMasters/notesMaster1.xml" Id="Rf50df6b167f648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d83f7aa05c4d08" /><Relationship Type="http://schemas.openxmlformats.org/officeDocument/2006/relationships/notesMaster" Target="/ppt/notesMasters/notesMaster1.xml" Id="R3b8cdb6465f64e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cac0da87f84c40" /><Relationship Type="http://schemas.openxmlformats.org/officeDocument/2006/relationships/notesMaster" Target="/ppt/notesMasters/notesMaster1.xml" Id="R3e50fe8e79b94a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ЛистОК — рабочее конкурсное название адаптации Worksheet Creator. Команда «Код урока», Москва, ГБОУ «Школа 2200», 11С. Направление «Арсенал мастера» указано командой. Существующий сайт служит технической основой; интеграция MAX запланирована. Источники: https://github.com/pavelneumoin/worksheet-creator; https://www.sferum.ru/hackathon_2026. Иллюстрация концептуальная, создана с помощью 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и школа предоставлены командой. Капитан — Скоков Максим Евгеньевич. Рабочие роли распределены с разрешения пользователя для конкурсной адаптации. Наставник — Семченков Николай Андреевич. Основа проекта Worksheet Creator имеет собственную историю разработки, которую сохраняем в README; конкурсная команда отвечает за адаптацию и дальнейшее развитие.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аудитория — школьные учителя, готовящие карточки и самостоятельные работы. Сценарий проблемы сформулирован командой: перепечатка текста и формул, вёрстка места для решения, подготовка второго варианта и ответов. Количественное исследование новой команды ещё не проведено. Опросы и проценты прежнего проекта в эту заявку не перенесены. Иллюстрация концептуальная.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Базовый сценарий опирается на существующий код: загрузка изображений, генерация LaTeX, редактирование и компиляция PDF. Приём PDF есть в интерфейсе, однако устойчивую обработку сканированных PDF нужно доработать и испытать. Marp — планируемый альтернативный формат. Учитель отвечает за проверку содержания перед выдачей. Источник: https://github.com/pavelneumoin/worksheet-creator. Иллюстрация концептуальная.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репозитории реализованы маршруты генерации через GigaChat, редактирование LaTeX, PDF рабочего листа и ответов, второй вариант, SQLite-история. На слайде — реальный фрагмент интерфейса из скачанного master (b178bd2), без имитации результата генерации. Полный цикл с действующим доступом к ИИ и компилятором предстоит проверить локально вместе с командой. Формулировка «реализовано в коде» не означает измеренной точности или готовности к публичному запуску. Источник: https://github.com/pavelneumoin/worksheet-creator.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Отличие формулируется как сочетание возможностей в одном пользовательском сценарии, без заявления об уникальности на рынке: исходный материал учителя, редактируемые задания, печатный PDF и отдельные ответы. Целевой сценарий MAX сокращает переходы между сервисами, но интеграция ещё не выполнена. Экономию времени и качество следует оценить в пилоте.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Числа на слайде — план пилота, а не фактический охват. Предлагается привлечь 5 учителей, подготовить 20 рабочих листов и апробировать часть материалов в 4 классах примерно по 25 учеников (до 100). Сравниваем время подготовки вручную и с сервисом, включая проверку и исправления. Отдельно считаем листы, готовые к печати без перевёрстки, ошибки распознавания и повторное использование учителем. Результаты исследования пока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основа — HTML/CSS/JS, Python/Flask, GigaChat API, LaTeX/pdfLaTeX и SQLite. MAX Bridge, серверная проверка initData, изоляция пользователей и безопасная очередь компиляции входят в план. Изображения распознаются через GigaChat. Возможный альтернативный путь — Yandex Vision OCR → YandexGPT. API-ключи должны храниться только на сервере. Источники: https://github.com/pavelneumoin/worksheet-creator; https://dev.max.ru/docs/webapps/bridge; https://dev.max.ru/docs/webapps/validation.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Корректный технический термин — мини-приложение MAX, ориентированное на пользователей Сферума. Это веб-интерфейс на HTTPS, связанный с ботом. Для интеграции нужны MAX Bridge, серверная проверка initData, скачивание PDF через поддерживаемый механизм и выбор адресата пользователем. Публикация и условия доступа школьной команды требуют согласования с организаторами. Включение в каталог Сферума и доступ к данным классов не подтверждены. Источники: https://dev.max.ru/docs/webapps/introduction; https://dev.max.ru/docs/webapps/bridge; https://dev.max.ru/docs/webapps/validation.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текущем коде используется GigaChat API. YandexGPT — семейство моделей в Yandex AI Studio; для фотографий и PDF рассматриваем отдельный Yandex Vision OCR, в том числе math-markdown. Централизованный доступ означает, что API использует сервер проекта; отсутствие личного ключа учителя не означает отсутствие API. Никаких партнёрств, бесплатных квот или личного кабинета партнёра для этого проекта пока нет. Условия GigaChat для новых клиентов с сентября 2026 следует сверять на Cloud.ru. Источники: https://developers.sber.ru/docs/ru/gigachat/guides/working-with-files; https://aistudio.yandex.ru/ru/docs/vision/concepts/ocr/models; https://aistudio.yandex.ru/ru/docs/ai-studio/concepts/generation/models; https://developers.sber.ru/docs/ru/gigachat/legal-quickstart.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предлагаемый план, а не обещание завершённых работ. 1) Наладить воспроизводимый локальный запуск и обработку ошибок, убрать диагностические раскрытия конфигурации. 2) Доработать PDF-сканы, проверку LaTeX и изоляцию компиляции. 3) Подключить MAX, разделить историю пользователей и согласовать выдачу файлов. 4) Провести школьный пилот. Ресурсы: четыре участника и наставник, HTTPS-сервер, доступ к GigaChat API/альтернативе, MAX, контейнер сборки PDF. Экспорт Marp — расширение после стабильного основного сценария. Трудозатраты в анкете обозначены как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аргумент — педагог использует собственный материал и контролирует содержание рабочего листа. Второй — уже имеется код веб-прототипа, поэтому конкурсная работа сосредоточена на надёжности генерации и адаптации к MAX. Практическую пользу, качество и время нужно подтвердить пилотом. Исходный код, инструкция и статус: https://github.com/pavelneumoin/worksheet-creator. Критерии первого этапа по положению: польза, охват, удобство, реализуемость; каждый до 5 баллов. Направление выбрано командой. https://www.sferum.ru/hackathon_2026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c650f9815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378b37df44662" /><Relationship Type="http://schemas.openxmlformats.org/officeDocument/2006/relationships/slideLayout" Target="/ppt/slideLayouts/slideLayout1.xml" Id="R2fbf97329d5e43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bf97329d5e43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43eb59a0f4727" /><Relationship Type="http://schemas.openxmlformats.org/officeDocument/2006/relationships/image" Target="/ppt/media/image.png" Id="R0ad0173e0772458f" /><Relationship Type="http://schemas.openxmlformats.org/officeDocument/2006/relationships/notesSlide" Target="/ppt/notesSlides/notesSlide1.xml" Id="Re104ff2319a64b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128729cf4ea2" /><Relationship Type="http://schemas.openxmlformats.org/officeDocument/2006/relationships/notesSlide" Target="/ppt/notesSlides/notesSlide2.xml" Id="R37da8c9f4c7c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b898fdb0f4f6c" /><Relationship Type="http://schemas.openxmlformats.org/officeDocument/2006/relationships/image" Target="/ppt/media/image2.png" Id="R0620318a4e174012" /><Relationship Type="http://schemas.openxmlformats.org/officeDocument/2006/relationships/notesSlide" Target="/ppt/notesSlides/notesSlide3.xml" Id="R15c287a9a20c46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4860186804d4e" /><Relationship Type="http://schemas.openxmlformats.org/officeDocument/2006/relationships/image" Target="/ppt/media/image3.png" Id="R9811742ba9f54297" /><Relationship Type="http://schemas.openxmlformats.org/officeDocument/2006/relationships/notesSlide" Target="/ppt/notesSlides/notesSlide4.xml" Id="R25c1359677ba43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92671e9144bb" /><Relationship Type="http://schemas.openxmlformats.org/officeDocument/2006/relationships/image" Target="/ppt/media/image.jpeg" Id="Ra0c1c6c756014a87" /><Relationship Type="http://schemas.openxmlformats.org/officeDocument/2006/relationships/notesSlide" Target="/ppt/notesSlides/notesSlide5.xml" Id="Re9420c6c8dda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5ad4694604a74" /><Relationship Type="http://schemas.openxmlformats.org/officeDocument/2006/relationships/notesSlide" Target="/ppt/notesSlides/notesSlide6.xml" Id="Ra8214c00faf64d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6e8ec118442a9" /><Relationship Type="http://schemas.openxmlformats.org/officeDocument/2006/relationships/notesSlide" Target="/ppt/notesSlides/notesSlide7.xml" Id="Rf37bebb6bbb64c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d125a38a14a08" /><Relationship Type="http://schemas.openxmlformats.org/officeDocument/2006/relationships/notesSlide" Target="/ppt/notesSlides/notesSlide8.xml" Id="R49cbeb4fd35b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732cfd0f846f8" /><Relationship Type="http://schemas.openxmlformats.org/officeDocument/2006/relationships/notesSlide" Target="/ppt/notesSlides/notesSlide9.xml" Id="Rf2685a51cf1442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eecae21d14449" /><Relationship Type="http://schemas.openxmlformats.org/officeDocument/2006/relationships/notesSlide" Target="/ppt/notesSlides/notesSlide10.xml" Id="R9a49181980bf4e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6632199eb475d" /><Relationship Type="http://schemas.openxmlformats.org/officeDocument/2006/relationships/notesSlide" Target="/ppt/notesSlides/notesSlide11.xml" Id="Rc182102334254f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ff12ba19443de" /><Relationship Type="http://schemas.openxmlformats.org/officeDocument/2006/relationships/notesSlide" Target="/ppt/notesSlides/notesSlide12.xml" Id="R066c6650e5d446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0D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7B11C918-73A7-4CB8-97B2-8B044D94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9E3D1BE6-D933-41BA-8A03-6E4F8846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ХАКАТОН «ИДЕЯ ФИКС» 2026">
            <a:extLst xmlns:a="http://schemas.openxmlformats.org/drawingml/2006/main">
              <a:ext uri="{FF2B5EF4-FFF2-40B4-BE49-F238E27FC236}">
                <a16:creationId xmlns:a16="http://schemas.microsoft.com/office/drawing/2014/main" id="{CEC82531-C0AA-4419-B0A0-C4F7BB1C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C9F5"/>
                </a:solidFill>
                <a:latin typeface="Arial"/>
                <a:ea typeface="Arial"/>
                <a:cs typeface="Arial"/>
              </a:rPr>
              <a:t>ХАКАТОН «ИДЕЯ ФИКС» 2026</a:t>
            </a:r>
          </a:p>
        </p:txBody>
      </p:sp>
      <p:sp>
        <p:nvSpPr>
          <p:cNvPr id="4" name="ЛистОК">
            <a:extLst xmlns:a="http://schemas.openxmlformats.org/drawingml/2006/main">
              <a:ext uri="{FF2B5EF4-FFF2-40B4-BE49-F238E27FC236}">
                <a16:creationId xmlns:a16="http://schemas.microsoft.com/office/drawing/2014/main" id="{9FD4F7A5-C8CC-44D8-A37F-B13F9227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42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ЛистОК</a:t>
            </a:r>
          </a:p>
        </p:txBody>
      </p:sp>
      <p:sp>
        <p:nvSpPr>
          <p:cNvPr id="5" name="Рабочие листы&#10;из материалов учителя">
            <a:extLst xmlns:a="http://schemas.openxmlformats.org/drawingml/2006/main">
              <a:ext uri="{FF2B5EF4-FFF2-40B4-BE49-F238E27FC236}">
                <a16:creationId xmlns:a16="http://schemas.microsoft.com/office/drawing/2014/main" id="{65574932-B379-4038-8C0D-1CF49932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7000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Рабочие листы</a:t>
            </a:r>
          </a:p>
          <a:p xmlns:a="http://schemas.openxmlformats.org/drawingml/2006/main">
            <a:pPr algn="l">
              <a:defRPr sz="3375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из материалов учителя</a:t>
            </a:r>
          </a:p>
        </p:txBody>
      </p:sp>
      <p:sp>
        <p:nvSpPr>
          <p:cNvPr id="6" name="ИИ помогает подготовить.&#10;Учитель проверяет и выпускает.">
            <a:extLst xmlns:a="http://schemas.openxmlformats.org/drawingml/2006/main">
              <a:ext uri="{FF2B5EF4-FFF2-40B4-BE49-F238E27FC236}">
                <a16:creationId xmlns:a16="http://schemas.microsoft.com/office/drawing/2014/main" id="{6D7C6F13-FB3C-422F-B311-B534EE85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714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ИИ помогает подготовить.</a:t>
            </a:r>
          </a:p>
          <a:p xmlns:a="http://schemas.openxmlformats.org/drawingml/2006/main">
            <a:pPr algn="l">
              <a:defRPr sz="210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Учитель проверяет и выпускает.</a:t>
            </a:r>
          </a:p>
        </p:txBody>
      </p:sp>
      <p:sp>
        <p:nvSpPr>
          <p:cNvPr id="7" name="Направление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C45FD366-25F8-4105-9386-9F3A481F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Направление «Арсенал мастера»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0173e0772458f"/>
          <a:stretch xmlns:a="http://schemas.openxmlformats.org/drawingml/2006/main"/>
        </p:blipFill>
        <p:spPr>
          <a:xfrm xmlns:a="http://schemas.openxmlformats.org/drawingml/2006/main">
            <a:off x="7600950" y="1543050"/>
            <a:ext cx="4200525" cy="4200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30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КОМАНДА">
            <a:extLst xmlns:a="http://schemas.openxmlformats.org/drawingml/2006/main">
              <a:ext uri="{FF2B5EF4-FFF2-40B4-BE49-F238E27FC236}">
                <a16:creationId xmlns:a16="http://schemas.microsoft.com/office/drawing/2014/main" id="{B76D1A5D-36D6-4CB4-A9F1-DFCF0E2D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2" name="Команда «Код урока»">
            <a:extLst xmlns:a="http://schemas.openxmlformats.org/drawingml/2006/main">
              <a:ext uri="{FF2B5EF4-FFF2-40B4-BE49-F238E27FC236}">
                <a16:creationId xmlns:a16="http://schemas.microsoft.com/office/drawing/2014/main" id="{25D9406D-8D8A-403A-9FCE-CCD44069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Команда «Код урока»</a:t>
            </a:r>
          </a:p>
        </p:txBody>
      </p:sp>
      <p:sp>
        <p:nvSpPr>
          <p:cNvPr id="3" name="Москва · ГБОУ «Школа 2200» · 11С класс">
            <a:extLst xmlns:a="http://schemas.openxmlformats.org/drawingml/2006/main">
              <a:ext uri="{FF2B5EF4-FFF2-40B4-BE49-F238E27FC236}">
                <a16:creationId xmlns:a16="http://schemas.microsoft.com/office/drawing/2014/main" id="{29145B91-C625-4AC8-B6D1-E569F0A9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Москва · ГБОУ «Школа 2200» · 11С класс</a:t>
            </a:r>
          </a:p>
        </p:txBody>
      </p:sp>
      <p:sp>
        <p:nvSpPr>
          <p:cNvPr id="4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C25C4547-F5FD-43F0-83D8-E9B1423E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D07117C2-5D9D-4358-8850-1C1823C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Скоков Максим&#10;Евгеньевич">
            <a:extLst xmlns:a="http://schemas.openxmlformats.org/drawingml/2006/main">
              <a:ext uri="{FF2B5EF4-FFF2-40B4-BE49-F238E27FC236}">
                <a16:creationId xmlns:a16="http://schemas.microsoft.com/office/drawing/2014/main" id="{2D3BBE2A-988B-4242-B369-B76C815F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257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Скоков Максим</a:t>
            </a:r>
          </a:p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Евгеньевич</a:t>
            </a:r>
          </a:p>
        </p:txBody>
      </p:sp>
      <p:sp>
        <p:nvSpPr>
          <p:cNvPr id="7" name="Капитан · серверная часть и MAX">
            <a:extLst xmlns:a="http://schemas.openxmlformats.org/drawingml/2006/main">
              <a:ext uri="{FF2B5EF4-FFF2-40B4-BE49-F238E27FC236}">
                <a16:creationId xmlns:a16="http://schemas.microsoft.com/office/drawing/2014/main" id="{C17B5E4A-9882-47C4-A22A-00873C27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41D4"/>
                </a:solidFill>
                <a:latin typeface="Arial"/>
                <a:ea typeface="Arial"/>
                <a:cs typeface="Arial"/>
              </a:rPr>
              <a:t>Капитан · серверная часть и MAX</a:t>
            </a:r>
          </a:p>
        </p:txBody>
      </p:sp>
      <p:sp>
        <p:nvSpPr>
          <p:cNvPr id="8" name="Алексинская Таисия&#10;Николаевна">
            <a:extLst xmlns:a="http://schemas.openxmlformats.org/drawingml/2006/main">
              <a:ext uri="{FF2B5EF4-FFF2-40B4-BE49-F238E27FC236}">
                <a16:creationId xmlns:a16="http://schemas.microsoft.com/office/drawing/2014/main" id="{1B1A3D16-5B07-4EA9-9D66-FF0ACEB4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5257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Алексинская Таисия</a:t>
            </a:r>
          </a:p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Николаевна</a:t>
            </a:r>
          </a:p>
        </p:txBody>
      </p:sp>
      <p:sp>
        <p:nvSpPr>
          <p:cNvPr id="9" name="Интерфейс и сценарий работы">
            <a:extLst xmlns:a="http://schemas.openxmlformats.org/drawingml/2006/main">
              <a:ext uri="{FF2B5EF4-FFF2-40B4-BE49-F238E27FC236}">
                <a16:creationId xmlns:a16="http://schemas.microsoft.com/office/drawing/2014/main" id="{154CD16A-3E76-4022-ACDF-2C13A330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41D4"/>
                </a:solidFill>
                <a:latin typeface="Arial"/>
                <a:ea typeface="Arial"/>
                <a:cs typeface="Arial"/>
              </a:rPr>
              <a:t>Интерфейс и сценарий работы</a:t>
            </a:r>
          </a:p>
        </p:txBody>
      </p:sp>
      <p:sp>
        <p:nvSpPr>
          <p:cNvPr id="10" name="Мазка Дмитрий&#10;Валерьевич">
            <a:extLst xmlns:a="http://schemas.openxmlformats.org/drawingml/2006/main">
              <a:ext uri="{FF2B5EF4-FFF2-40B4-BE49-F238E27FC236}">
                <a16:creationId xmlns:a16="http://schemas.microsoft.com/office/drawing/2014/main" id="{D9EB2AFE-1A25-4AAD-BAD2-B36BE61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57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Мазка Дмитрий</a:t>
            </a:r>
          </a:p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Валерьевич</a:t>
            </a:r>
          </a:p>
        </p:txBody>
      </p:sp>
      <p:sp>
        <p:nvSpPr>
          <p:cNvPr id="11" name="ИИ-модуль и LaTeX">
            <a:extLst xmlns:a="http://schemas.openxmlformats.org/drawingml/2006/main">
              <a:ext uri="{FF2B5EF4-FFF2-40B4-BE49-F238E27FC236}">
                <a16:creationId xmlns:a16="http://schemas.microsoft.com/office/drawing/2014/main" id="{2C113094-64D3-4D82-801E-55E0D85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41D4"/>
                </a:solidFill>
                <a:latin typeface="Arial"/>
                <a:ea typeface="Arial"/>
                <a:cs typeface="Arial"/>
              </a:rPr>
              <a:t>ИИ-модуль и LaTeX</a:t>
            </a:r>
          </a:p>
        </p:txBody>
      </p:sp>
      <p:sp>
        <p:nvSpPr>
          <p:cNvPr id="12" name="Почкина Анастасия&#10;Александровна">
            <a:extLst xmlns:a="http://schemas.openxmlformats.org/drawingml/2006/main">
              <a:ext uri="{FF2B5EF4-FFF2-40B4-BE49-F238E27FC236}">
                <a16:creationId xmlns:a16="http://schemas.microsoft.com/office/drawing/2014/main" id="{324B5FD2-6ED1-48BE-8342-1B3DD527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5257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Почкина Анастасия</a:t>
            </a:r>
          </a:p>
          <a:p xmlns:a="http://schemas.openxmlformats.org/drawingml/2006/main">
            <a:pPr algn="l">
              <a:defRPr sz="24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Александровна</a:t>
            </a:r>
          </a:p>
        </p:txBody>
      </p:sp>
      <p:sp>
        <p:nvSpPr>
          <p:cNvPr id="13" name="Методика и тестирование">
            <a:extLst xmlns:a="http://schemas.openxmlformats.org/drawingml/2006/main">
              <a:ext uri="{FF2B5EF4-FFF2-40B4-BE49-F238E27FC236}">
                <a16:creationId xmlns:a16="http://schemas.microsoft.com/office/drawing/2014/main" id="{1987EEFF-095F-405B-AC7C-3BB20F3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41D4"/>
                </a:solidFill>
                <a:latin typeface="Arial"/>
                <a:ea typeface="Arial"/>
                <a:cs typeface="Arial"/>
              </a:rPr>
              <a:t>Методика и тестирование</a:t>
            </a:r>
          </a:p>
        </p:txBody>
      </p:sp>
      <p:sp>
        <p:nvSpPr>
          <p:cNvPr id="14" name="Наставник">
            <a:extLst xmlns:a="http://schemas.openxmlformats.org/drawingml/2006/main">
              <a:ext uri="{FF2B5EF4-FFF2-40B4-BE49-F238E27FC236}">
                <a16:creationId xmlns:a16="http://schemas.microsoft.com/office/drawing/2014/main" id="{384DF9B4-F048-4190-82B1-4E6D8D8F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Наставник</a:t>
            </a:r>
          </a:p>
        </p:txBody>
      </p:sp>
      <p:sp>
        <p:nvSpPr>
          <p:cNvPr id="15" name="Семченков Николай Андреевич">
            <a:extLst xmlns:a="http://schemas.openxmlformats.org/drawingml/2006/main">
              <a:ext uri="{FF2B5EF4-FFF2-40B4-BE49-F238E27FC236}">
                <a16:creationId xmlns:a16="http://schemas.microsoft.com/office/drawing/2014/main" id="{28B144F6-C8D3-42D4-BB19-D0B70013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8293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Семченков Николай Андреевич</a:t>
            </a:r>
          </a:p>
        </p:txBody>
      </p:sp>
    </p:spTree>
    <p:extLst>
      <p:ext uri="{BB962C8B-B14F-4D97-AF65-F5344CB8AC3E}">
        <p14:creationId xmlns:p14="http://schemas.microsoft.com/office/powerpoint/2010/main" val="244652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ОБЛЕМА И АУДИТОРИЯ">
            <a:extLst xmlns:a="http://schemas.openxmlformats.org/drawingml/2006/main">
              <a:ext uri="{FF2B5EF4-FFF2-40B4-BE49-F238E27FC236}">
                <a16:creationId xmlns:a16="http://schemas.microsoft.com/office/drawing/2014/main" id="{75DE742E-A416-4B33-8808-F9DC8A1E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ПРОБЛЕМА И АУДИТОРИЯ</a:t>
            </a:r>
          </a:p>
        </p:txBody>
      </p:sp>
      <p:sp>
        <p:nvSpPr>
          <p:cNvPr id="2" name="Ручная сборка рабочего листа">
            <a:extLst xmlns:a="http://schemas.openxmlformats.org/drawingml/2006/main">
              <a:ext uri="{FF2B5EF4-FFF2-40B4-BE49-F238E27FC236}">
                <a16:creationId xmlns:a16="http://schemas.microsoft.com/office/drawing/2014/main" id="{C4A76DC9-EBC6-43B1-9544-581DDF61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Ручная сборка рабочего листа</a:t>
            </a:r>
          </a:p>
        </p:txBody>
      </p:sp>
      <p:sp>
        <p:nvSpPr>
          <p:cNvPr id="3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97C84547-A576-4306-B96D-492C4086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3629BA90-2F1D-422C-80D9-5D0EBFA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Текст и формулы">
            <a:extLst xmlns:a="http://schemas.openxmlformats.org/drawingml/2006/main">
              <a:ext uri="{FF2B5EF4-FFF2-40B4-BE49-F238E27FC236}">
                <a16:creationId xmlns:a16="http://schemas.microsoft.com/office/drawing/2014/main" id="{9142E908-0326-403A-BA02-EC650396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Текст и формулы</a:t>
            </a:r>
          </a:p>
        </p:txBody>
      </p:sp>
      <p:sp>
        <p:nvSpPr>
          <p:cNvPr id="6" name="Задания из фото приходится&#10;переносить и вычитывать.">
            <a:extLst xmlns:a="http://schemas.openxmlformats.org/drawingml/2006/main">
              <a:ext uri="{FF2B5EF4-FFF2-40B4-BE49-F238E27FC236}">
                <a16:creationId xmlns:a16="http://schemas.microsoft.com/office/drawing/2014/main" id="{3DC6AD31-5BF9-46E9-916C-5AC6EEE4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334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Задания из фото приходится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переносить и вычитывать.</a:t>
            </a:r>
          </a:p>
        </p:txBody>
      </p:sp>
      <p:sp>
        <p:nvSpPr>
          <p:cNvPr id="7" name="Макет и варианты">
            <a:extLst xmlns:a="http://schemas.openxmlformats.org/drawingml/2006/main">
              <a:ext uri="{FF2B5EF4-FFF2-40B4-BE49-F238E27FC236}">
                <a16:creationId xmlns:a16="http://schemas.microsoft.com/office/drawing/2014/main" id="{4C206700-05FA-47AF-948C-D1DB763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819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Макет и варианты</a:t>
            </a:r>
          </a:p>
        </p:txBody>
      </p:sp>
      <p:sp>
        <p:nvSpPr>
          <p:cNvPr id="8" name="Нужно оставить место для решения,&#10;подготовить ответы и друго">
            <a:extLst xmlns:a="http://schemas.openxmlformats.org/drawingml/2006/main">
              <a:ext uri="{FF2B5EF4-FFF2-40B4-BE49-F238E27FC236}">
                <a16:creationId xmlns:a16="http://schemas.microsoft.com/office/drawing/2014/main" id="{3C219B46-323F-4A51-B333-A8023D47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6819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Нужно оставить место для решения,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подготовить ответы и другой вариант.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0318a4e174012"/>
          <a:stretch xmlns:a="http://schemas.openxmlformats.org/drawingml/2006/main"/>
        </p:blipFill>
        <p:spPr>
          <a:xfrm xmlns:a="http://schemas.openxmlformats.org/drawingml/2006/main">
            <a:off x="7629525" y="2000250"/>
            <a:ext cx="4038600" cy="4038600"/>
          </a:xfrm>
          <a:prstGeom xmlns:a="http://schemas.openxmlformats.org/drawingml/2006/main" prst="rect">
            <a:avLst/>
          </a:prstGeom>
        </p:spPr>
      </p:pic>
      <p:sp>
        <p:nvSpPr>
          <p:cNvPr id="10" name="Для учителей, которые создают материалы под свой класс">
            <a:extLst xmlns:a="http://schemas.openxmlformats.org/drawingml/2006/main">
              <a:ext uri="{FF2B5EF4-FFF2-40B4-BE49-F238E27FC236}">
                <a16:creationId xmlns:a16="http://schemas.microsoft.com/office/drawing/2014/main" id="{204DF50C-B83A-40F9-8F9F-8BCF77A9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Для учителей, которые создают материалы под свой класс</a:t>
            </a:r>
          </a:p>
        </p:txBody>
      </p:sp>
    </p:spTree>
    <p:extLst>
      <p:ext uri="{BB962C8B-B14F-4D97-AF65-F5344CB8AC3E}">
        <p14:creationId xmlns:p14="http://schemas.microsoft.com/office/powerpoint/2010/main" val="2083726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0D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РЕШЕНИЕ">
            <a:extLst xmlns:a="http://schemas.openxmlformats.org/drawingml/2006/main">
              <a:ext uri="{FF2B5EF4-FFF2-40B4-BE49-F238E27FC236}">
                <a16:creationId xmlns:a16="http://schemas.microsoft.com/office/drawing/2014/main" id="{D48631BC-7774-4AC6-BF98-FB324F19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" name="Сценарий работы учителя">
            <a:extLst xmlns:a="http://schemas.openxmlformats.org/drawingml/2006/main">
              <a:ext uri="{FF2B5EF4-FFF2-40B4-BE49-F238E27FC236}">
                <a16:creationId xmlns:a16="http://schemas.microsoft.com/office/drawing/2014/main" id="{6192F63C-96AC-47EA-AD9B-4EF796E2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Сценарий работы учителя</a:t>
            </a:r>
          </a:p>
        </p:txBody>
      </p:sp>
      <p:sp>
        <p:nvSpPr>
          <p:cNvPr id="3" name="Фото задания → проверенный рабочий лист">
            <a:extLst xmlns:a="http://schemas.openxmlformats.org/drawingml/2006/main">
              <a:ext uri="{FF2B5EF4-FFF2-40B4-BE49-F238E27FC236}">
                <a16:creationId xmlns:a16="http://schemas.microsoft.com/office/drawing/2014/main" id="{7AADAB4A-065D-430F-927D-23498447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Фото задания → проверенный рабочий лист</a:t>
            </a:r>
          </a:p>
        </p:txBody>
      </p:sp>
      <p:sp>
        <p:nvSpPr>
          <p:cNvPr id="4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C1A10A10-36D7-4DEF-AB15-ED9E293B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37EA0456-D670-4E65-9304-3618584B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2CC28FED-8BB6-43AA-84B1-A352C389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Материал">
            <a:extLst xmlns:a="http://schemas.openxmlformats.org/drawingml/2006/main">
              <a:ext uri="{FF2B5EF4-FFF2-40B4-BE49-F238E27FC236}">
                <a16:creationId xmlns:a16="http://schemas.microsoft.com/office/drawing/2014/main" id="{EB33E8EC-7353-4FFA-B171-D5AE6116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38400"/>
            <a:ext cx="552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Материал</a:t>
            </a:r>
          </a:p>
        </p:txBody>
      </p:sp>
      <p:sp>
        <p:nvSpPr>
          <p:cNvPr id="8" name="Фото задания или страницы учебника">
            <a:extLst xmlns:a="http://schemas.openxmlformats.org/drawingml/2006/main">
              <a:ext uri="{FF2B5EF4-FFF2-40B4-BE49-F238E27FC236}">
                <a16:creationId xmlns:a16="http://schemas.microsoft.com/office/drawing/2014/main" id="{F2D51535-203D-43CE-B5E9-E1C0103A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4797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Фото задания или страницы учебника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7756402E-F327-4A7C-8479-CEB9E0D6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Черновик">
            <a:extLst xmlns:a="http://schemas.openxmlformats.org/drawingml/2006/main">
              <a:ext uri="{FF2B5EF4-FFF2-40B4-BE49-F238E27FC236}">
                <a16:creationId xmlns:a16="http://schemas.microsoft.com/office/drawing/2014/main" id="{1B133031-A887-4459-8B27-E471FE65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05175"/>
            <a:ext cx="552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Черновик</a:t>
            </a:r>
          </a:p>
        </p:txBody>
      </p:sp>
      <p:sp>
        <p:nvSpPr>
          <p:cNvPr id="11" name="ИИ распознаёт и оформляет задания">
            <a:extLst xmlns:a="http://schemas.openxmlformats.org/drawingml/2006/main">
              <a:ext uri="{FF2B5EF4-FFF2-40B4-BE49-F238E27FC236}">
                <a16:creationId xmlns:a16="http://schemas.microsoft.com/office/drawing/2014/main" id="{858D27DE-1431-4EA8-8BDE-ADEFAFCE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14750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ИИ распознаёт и оформляет задания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BA55FA51-15D2-416B-8FDC-7DF721C5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Проверка">
            <a:extLst xmlns:a="http://schemas.openxmlformats.org/drawingml/2006/main">
              <a:ext uri="{FF2B5EF4-FFF2-40B4-BE49-F238E27FC236}">
                <a16:creationId xmlns:a16="http://schemas.microsoft.com/office/drawing/2014/main" id="{D106261C-5A36-49FD-AEEC-E3D5B18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71950"/>
            <a:ext cx="552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4" name="Учитель правит текст и формулы">
            <a:extLst xmlns:a="http://schemas.openxmlformats.org/drawingml/2006/main">
              <a:ext uri="{FF2B5EF4-FFF2-40B4-BE49-F238E27FC236}">
                <a16:creationId xmlns:a16="http://schemas.microsoft.com/office/drawing/2014/main" id="{29E93A3A-8DDF-463E-A2DB-4B4793A4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8152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Учитель правит текст и формулы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71282236-C1F6-41C0-890F-A15A4BC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E6FEBB30-BC73-47CA-93BE-68A8C2CB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38725"/>
            <a:ext cx="552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7" name="PDF для класса и отдельные ответы">
            <a:extLst xmlns:a="http://schemas.openxmlformats.org/drawingml/2006/main">
              <a:ext uri="{FF2B5EF4-FFF2-40B4-BE49-F238E27FC236}">
                <a16:creationId xmlns:a16="http://schemas.microsoft.com/office/drawing/2014/main" id="{C23FDF32-B852-4094-A3BB-CEAAFD6A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48300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PDF для класса и отдельные ответы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1742ba9f54297"/>
          <a:stretch xmlns:a="http://schemas.openxmlformats.org/drawingml/2006/main"/>
        </p:blipFill>
        <p:spPr>
          <a:xfrm xmlns:a="http://schemas.openxmlformats.org/drawingml/2006/main">
            <a:off x="7743825" y="23622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19" name="PDF-сканы и экспорт Marp — в плане доработки">
            <a:extLst xmlns:a="http://schemas.openxmlformats.org/drawingml/2006/main">
              <a:ext uri="{FF2B5EF4-FFF2-40B4-BE49-F238E27FC236}">
                <a16:creationId xmlns:a16="http://schemas.microsoft.com/office/drawing/2014/main" id="{59E884CB-292D-4153-9937-2966942E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PDF-сканы и экспорт Marp — в плане доработки</a:t>
            </a:r>
          </a:p>
        </p:txBody>
      </p:sp>
    </p:spTree>
    <p:extLst>
      <p:ext uri="{BB962C8B-B14F-4D97-AF65-F5344CB8AC3E}">
        <p14:creationId xmlns:p14="http://schemas.microsoft.com/office/powerpoint/2010/main" val="27261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ГОТОВНОСТЬ">
            <a:extLst xmlns:a="http://schemas.openxmlformats.org/drawingml/2006/main">
              <a:ext uri="{FF2B5EF4-FFF2-40B4-BE49-F238E27FC236}">
                <a16:creationId xmlns:a16="http://schemas.microsoft.com/office/drawing/2014/main" id="{39C46DA8-DEFD-4668-BFE0-18734EB8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ГОТОВНОСТЬ</a:t>
            </a:r>
          </a:p>
        </p:txBody>
      </p:sp>
      <p:sp>
        <p:nvSpPr>
          <p:cNvPr id="2" name="У проекта уже есть веб-прототип">
            <a:extLst xmlns:a="http://schemas.openxmlformats.org/drawingml/2006/main">
              <a:ext uri="{FF2B5EF4-FFF2-40B4-BE49-F238E27FC236}">
                <a16:creationId xmlns:a16="http://schemas.microsoft.com/office/drawing/2014/main" id="{13230DD0-ED23-4B93-8E34-841A46A3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У проекта уже есть веб-прототип</a:t>
            </a:r>
          </a:p>
        </p:txBody>
      </p:sp>
      <p:sp>
        <p:nvSpPr>
          <p:cNvPr id="3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0BEEC5E9-D344-48C5-B765-04FCA070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579D9F2C-53E3-4C44-B946-1FBAEC08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Реализовано в коде">
            <a:extLst xmlns:a="http://schemas.openxmlformats.org/drawingml/2006/main">
              <a:ext uri="{FF2B5EF4-FFF2-40B4-BE49-F238E27FC236}">
                <a16:creationId xmlns:a16="http://schemas.microsoft.com/office/drawing/2014/main" id="{7E654F61-6BBB-40B6-A1F1-0002CCAB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610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Реализовано в коде</a:t>
            </a:r>
          </a:p>
        </p:txBody>
      </p:sp>
      <p:sp>
        <p:nvSpPr>
          <p:cNvPr id="6" name="Загрузка изображений&#10;и генерация через GigaChat">
            <a:extLst xmlns:a="http://schemas.openxmlformats.org/drawingml/2006/main">
              <a:ext uri="{FF2B5EF4-FFF2-40B4-BE49-F238E27FC236}">
                <a16:creationId xmlns:a16="http://schemas.microsoft.com/office/drawing/2014/main" id="{F35A9DBC-AC9F-4AB6-87F7-CBF52E1E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5610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Загрузка изображений</a:t>
            </a:r>
          </a:p>
          <a:p xmlns:a="http://schemas.openxmlformats.org/drawingml/2006/main">
            <a:pPr algn="l">
              <a:defRPr sz="1950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и генерация через GigaChat</a:t>
            </a:r>
          </a:p>
        </p:txBody>
      </p:sp>
      <p:sp>
        <p:nvSpPr>
          <p:cNvPr id="7" name="Управление результатом">
            <a:extLst xmlns:a="http://schemas.openxmlformats.org/drawingml/2006/main">
              <a:ext uri="{FF2B5EF4-FFF2-40B4-BE49-F238E27FC236}">
                <a16:creationId xmlns:a16="http://schemas.microsoft.com/office/drawing/2014/main" id="{343E8B77-E558-4E9C-B348-3CCD467C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578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Управление результатом</a:t>
            </a:r>
          </a:p>
        </p:txBody>
      </p:sp>
      <p:sp>
        <p:nvSpPr>
          <p:cNvPr id="8" name="Редактор LaTeX, варианты сложности,&#10;PDF заданий и отдельные ">
            <a:extLst xmlns:a="http://schemas.openxmlformats.org/drawingml/2006/main">
              <a:ext uri="{FF2B5EF4-FFF2-40B4-BE49-F238E27FC236}">
                <a16:creationId xmlns:a16="http://schemas.microsoft.com/office/drawing/2014/main" id="{D97C7453-A103-40CB-8A24-E1313A06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8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Редактор LaTeX, варианты сложности,</a:t>
            </a:r>
          </a:p>
          <a:p xmlns:a="http://schemas.openxmlformats.org/drawingml/2006/main">
            <a:pPr algn="l">
              <a:defRPr sz="1950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PDF заданий и отдельные ответы</a:t>
            </a:r>
          </a:p>
        </p:txBody>
      </p:sp>
      <p:sp>
        <p:nvSpPr>
          <p:cNvPr id="9" name="MAX, Marp и устойчивые PDF-сканы&#10;входят в следующий этап.">
            <a:extLst xmlns:a="http://schemas.openxmlformats.org/drawingml/2006/main">
              <a:ext uri="{FF2B5EF4-FFF2-40B4-BE49-F238E27FC236}">
                <a16:creationId xmlns:a16="http://schemas.microsoft.com/office/drawing/2014/main" id="{40CCF9CD-A6AD-4ADE-8185-F428C681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76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MAX, Marp и устойчивые PDF-сканы</a:t>
            </a:r>
          </a:p>
          <a:p xmlns:a="http://schemas.openxmlformats.org/drawingml/2006/main">
            <a:pPr algn="l">
              <a:defRPr sz="187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входят в следующий этап.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1c6c756014a87"/>
          <a:stretch xmlns:a="http://schemas.openxmlformats.org/drawingml/2006/main"/>
        </p:blipFill>
        <p:spPr>
          <a:xfrm xmlns:a="http://schemas.openxmlformats.org/drawingml/2006/main">
            <a:off x="6572250" y="2235187"/>
            <a:ext cx="5010150" cy="40164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8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ОЛЬЗА И ОТЛИЧИЕ">
            <a:extLst xmlns:a="http://schemas.openxmlformats.org/drawingml/2006/main">
              <a:ext uri="{FF2B5EF4-FFF2-40B4-BE49-F238E27FC236}">
                <a16:creationId xmlns:a16="http://schemas.microsoft.com/office/drawing/2014/main" id="{4DDA69CA-5111-4D3A-B1A3-0334B9E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ПОЛЬЗА И ОТЛИЧИЕ</a:t>
            </a:r>
          </a:p>
        </p:txBody>
      </p:sp>
      <p:sp>
        <p:nvSpPr>
          <p:cNvPr id="2" name="Учитель сохраняет контроль">
            <a:extLst xmlns:a="http://schemas.openxmlformats.org/drawingml/2006/main">
              <a:ext uri="{FF2B5EF4-FFF2-40B4-BE49-F238E27FC236}">
                <a16:creationId xmlns:a16="http://schemas.microsoft.com/office/drawing/2014/main" id="{D07E8327-3C3A-4405-AB9F-8EBBA79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Учитель сохраняет контроль</a:t>
            </a:r>
          </a:p>
        </p:txBody>
      </p:sp>
      <p:sp>
        <p:nvSpPr>
          <p:cNvPr id="3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0A360E9A-38F9-4D5E-B4EB-8640701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E87981A2-8CF3-437D-BE0F-C3B8DC51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Содержание">
            <a:extLst xmlns:a="http://schemas.openxmlformats.org/drawingml/2006/main">
              <a:ext uri="{FF2B5EF4-FFF2-40B4-BE49-F238E27FC236}">
                <a16:creationId xmlns:a16="http://schemas.microsoft.com/office/drawing/2014/main" id="{E3B99796-DF1C-4D99-82F1-0D8615C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Содержание</a:t>
            </a:r>
          </a:p>
        </p:txBody>
      </p:sp>
      <p:sp>
        <p:nvSpPr>
          <p:cNvPr id="6" name="Свои задания&#10;и право исправить&#10;каждую формулу">
            <a:extLst xmlns:a="http://schemas.openxmlformats.org/drawingml/2006/main">
              <a:ext uri="{FF2B5EF4-FFF2-40B4-BE49-F238E27FC236}">
                <a16:creationId xmlns:a16="http://schemas.microsoft.com/office/drawing/2014/main" id="{352D81D7-E08F-40CE-8922-E64E45C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143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Свои задания</a:t>
            </a:r>
          </a:p>
          <a:p xmlns:a="http://schemas.openxmlformats.org/drawingml/2006/main">
            <a:pPr algn="l">
              <a:defRPr sz="27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и право исправить</a:t>
            </a:r>
          </a:p>
          <a:p xmlns:a="http://schemas.openxmlformats.org/drawingml/2006/main">
            <a:pPr algn="l">
              <a:defRPr sz="27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каждую формулу</a:t>
            </a:r>
          </a:p>
        </p:txBody>
      </p:sp>
      <p:sp>
        <p:nvSpPr>
          <p:cNvPr id="7" name="Готовый материал">
            <a:extLst xmlns:a="http://schemas.openxmlformats.org/drawingml/2006/main">
              <a:ext uri="{FF2B5EF4-FFF2-40B4-BE49-F238E27FC236}">
                <a16:creationId xmlns:a16="http://schemas.microsoft.com/office/drawing/2014/main" id="{7B4BD6D5-13AF-4E2B-8251-9962EAB6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5248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Готовый материал</a:t>
            </a:r>
          </a:p>
        </p:txBody>
      </p:sp>
      <p:sp>
        <p:nvSpPr>
          <p:cNvPr id="8" name="Лист для ученика&#10;и ответы для учителя&#10;в одном сценарии">
            <a:extLst xmlns:a="http://schemas.openxmlformats.org/drawingml/2006/main">
              <a:ext uri="{FF2B5EF4-FFF2-40B4-BE49-F238E27FC236}">
                <a16:creationId xmlns:a16="http://schemas.microsoft.com/office/drawing/2014/main" id="{D85CFB9A-4D1D-4C7F-B3C1-4A3E4BA4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52482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Лист для ученика</a:t>
            </a:r>
          </a:p>
          <a:p xmlns:a="http://schemas.openxmlformats.org/drawingml/2006/main">
            <a:pPr algn="l">
              <a:defRPr sz="27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и ответы для учителя</a:t>
            </a:r>
          </a:p>
          <a:p xmlns:a="http://schemas.openxmlformats.org/drawingml/2006/main">
            <a:pPr algn="l">
              <a:defRPr sz="27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в одном сценарии</a:t>
            </a:r>
          </a:p>
        </p:txBody>
      </p:sp>
      <p:sp>
        <p:nvSpPr>
          <p:cNvPr id="9" name="Планируемая связка со Сферумом: подготовить и передать лист ">
            <a:extLst xmlns:a="http://schemas.openxmlformats.org/drawingml/2006/main">
              <a:ext uri="{FF2B5EF4-FFF2-40B4-BE49-F238E27FC236}">
                <a16:creationId xmlns:a16="http://schemas.microsoft.com/office/drawing/2014/main" id="{79DDA189-F34C-4BF5-BAA6-53147ECE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Планируемая связка со Сферумом: подготовить и передать лист классу через MAX</a:t>
            </a:r>
          </a:p>
        </p:txBody>
      </p:sp>
    </p:spTree>
    <p:extLst>
      <p:ext uri="{BB962C8B-B14F-4D97-AF65-F5344CB8AC3E}">
        <p14:creationId xmlns:p14="http://schemas.microsoft.com/office/powerpoint/2010/main" val="745619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0D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ХВАТ И ПРОВЕРКА ПОЛЬЗЫ">
            <a:extLst xmlns:a="http://schemas.openxmlformats.org/drawingml/2006/main">
              <a:ext uri="{FF2B5EF4-FFF2-40B4-BE49-F238E27FC236}">
                <a16:creationId xmlns:a16="http://schemas.microsoft.com/office/drawing/2014/main" id="{C2E0487F-16A1-4A2B-AFD7-6A69A460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ОХВАТ И ПРОВЕРКА ПОЛЬЗЫ</a:t>
            </a:r>
          </a:p>
        </p:txBody>
      </p:sp>
      <p:sp>
        <p:nvSpPr>
          <p:cNvPr id="2" name="Пилот в одной школе">
            <a:extLst xmlns:a="http://schemas.openxmlformats.org/drawingml/2006/main">
              <a:ext uri="{FF2B5EF4-FFF2-40B4-BE49-F238E27FC236}">
                <a16:creationId xmlns:a16="http://schemas.microsoft.com/office/drawing/2014/main" id="{2EEF1AB3-C117-463B-8FB9-A3145A51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Пилот в одной школе</a:t>
            </a:r>
          </a:p>
        </p:txBody>
      </p:sp>
      <p:sp>
        <p:nvSpPr>
          <p:cNvPr id="3" name="Предлагаемый план, участие ещё предстоит подтвердить">
            <a:extLst xmlns:a="http://schemas.openxmlformats.org/drawingml/2006/main">
              <a:ext uri="{FF2B5EF4-FFF2-40B4-BE49-F238E27FC236}">
                <a16:creationId xmlns:a16="http://schemas.microsoft.com/office/drawing/2014/main" id="{8C63A3A2-A24D-447F-9197-EA825B83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Предлагаемый план, участие ещё предстоит подтвердить</a:t>
            </a:r>
          </a:p>
        </p:txBody>
      </p:sp>
      <p:sp>
        <p:nvSpPr>
          <p:cNvPr id="4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4BEF026F-97F2-4250-81E1-219C8E06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00FF9B93-B914-4BBC-9E4B-D1FC894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87DD011C-10F7-4762-9B15-1B6DFA6A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учителей">
            <a:extLst xmlns:a="http://schemas.openxmlformats.org/drawingml/2006/main">
              <a:ext uri="{FF2B5EF4-FFF2-40B4-BE49-F238E27FC236}">
                <a16:creationId xmlns:a16="http://schemas.microsoft.com/office/drawing/2014/main" id="{3CA06E60-E2D4-4295-8143-CC990309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учителей</a:t>
            </a:r>
          </a:p>
        </p:txBody>
      </p:sp>
      <p:sp>
        <p:nvSpPr>
          <p:cNvPr id="8" name="20">
            <a:extLst xmlns:a="http://schemas.openxmlformats.org/drawingml/2006/main">
              <a:ext uri="{FF2B5EF4-FFF2-40B4-BE49-F238E27FC236}">
                <a16:creationId xmlns:a16="http://schemas.microsoft.com/office/drawing/2014/main" id="{EB7FC332-709C-4913-884A-8D116ED4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рабочих листов">
            <a:extLst xmlns:a="http://schemas.openxmlformats.org/drawingml/2006/main">
              <a:ext uri="{FF2B5EF4-FFF2-40B4-BE49-F238E27FC236}">
                <a16:creationId xmlns:a16="http://schemas.microsoft.com/office/drawing/2014/main" id="{3091040E-2DFA-4B1A-BCD6-4A8BD0C0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52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рабочих листов</a:t>
            </a:r>
          </a:p>
        </p:txBody>
      </p:sp>
      <p:sp>
        <p:nvSpPr>
          <p:cNvPr id="10" name="до 100">
            <a:extLst xmlns:a="http://schemas.openxmlformats.org/drawingml/2006/main">
              <a:ext uri="{FF2B5EF4-FFF2-40B4-BE49-F238E27FC236}">
                <a16:creationId xmlns:a16="http://schemas.microsoft.com/office/drawing/2014/main" id="{37974115-1893-4F57-86A4-28586310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до 100</a:t>
            </a:r>
          </a:p>
        </p:txBody>
      </p:sp>
      <p:sp>
        <p:nvSpPr>
          <p:cNvPr id="11" name="учеников">
            <a:extLst xmlns:a="http://schemas.openxmlformats.org/drawingml/2006/main">
              <a:ext uri="{FF2B5EF4-FFF2-40B4-BE49-F238E27FC236}">
                <a16:creationId xmlns:a16="http://schemas.microsoft.com/office/drawing/2014/main" id="{D3C69E7D-92BE-48E5-8654-7BE36DE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052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учеников</a:t>
            </a:r>
          </a:p>
        </p:txBody>
      </p:sp>
      <p:sp>
        <p:nvSpPr>
          <p:cNvPr id="12" name="Что измерим">
            <a:extLst xmlns:a="http://schemas.openxmlformats.org/drawingml/2006/main">
              <a:ext uri="{FF2B5EF4-FFF2-40B4-BE49-F238E27FC236}">
                <a16:creationId xmlns:a16="http://schemas.microsoft.com/office/drawing/2014/main" id="{6D5B67CD-92B8-4544-936E-2944001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Что измерим</a:t>
            </a:r>
          </a:p>
        </p:txBody>
      </p:sp>
      <p:sp>
        <p:nvSpPr>
          <p:cNvPr id="13" name="Время с учётом правок · качество формул&#10;Готовность к печати ">
            <a:extLst xmlns:a="http://schemas.openxmlformats.org/drawingml/2006/main">
              <a:ext uri="{FF2B5EF4-FFF2-40B4-BE49-F238E27FC236}">
                <a16:creationId xmlns:a16="http://schemas.microsoft.com/office/drawing/2014/main" id="{2CBC8D6D-E3E0-482A-9FA0-18A15B36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33950"/>
            <a:ext cx="7258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Время с учётом правок · качество формул</a:t>
            </a:r>
          </a:p>
          <a:p xmlns:a="http://schemas.openxmlformats.org/drawingml/2006/main">
            <a:pPr algn="l">
              <a:defRPr sz="210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Готовность к печати · повторное использование</a:t>
            </a:r>
          </a:p>
        </p:txBody>
      </p:sp>
    </p:spTree>
    <p:extLst>
      <p:ext uri="{BB962C8B-B14F-4D97-AF65-F5344CB8AC3E}">
        <p14:creationId xmlns:p14="http://schemas.microsoft.com/office/powerpoint/2010/main" val="1872388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0D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РЕАЛИЗУЕМОСТЬ">
            <a:extLst xmlns:a="http://schemas.openxmlformats.org/drawingml/2006/main">
              <a:ext uri="{FF2B5EF4-FFF2-40B4-BE49-F238E27FC236}">
                <a16:creationId xmlns:a16="http://schemas.microsoft.com/office/drawing/2014/main" id="{A88609A8-FD7E-43D3-88A1-99F59EA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РЕАЛИЗУЕМОСТЬ</a:t>
            </a:r>
          </a:p>
        </p:txBody>
      </p:sp>
      <p:sp>
        <p:nvSpPr>
          <p:cNvPr id="2" name="Архитектура сервиса">
            <a:extLst xmlns:a="http://schemas.openxmlformats.org/drawingml/2006/main">
              <a:ext uri="{FF2B5EF4-FFF2-40B4-BE49-F238E27FC236}">
                <a16:creationId xmlns:a16="http://schemas.microsoft.com/office/drawing/2014/main" id="{BB1B3EFD-038C-4577-8A24-CF69E237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Архитектура сервиса</a:t>
            </a:r>
          </a:p>
        </p:txBody>
      </p:sp>
      <p:sp>
        <p:nvSpPr>
          <p:cNvPr id="3" name="Существующий генератор и планируемый вход через MAX">
            <a:extLst xmlns:a="http://schemas.openxmlformats.org/drawingml/2006/main">
              <a:ext uri="{FF2B5EF4-FFF2-40B4-BE49-F238E27FC236}">
                <a16:creationId xmlns:a16="http://schemas.microsoft.com/office/drawing/2014/main" id="{FF2FDF91-177F-4F06-87D0-9B56805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Существующий генератор и планируемый вход через MAX</a:t>
            </a:r>
          </a:p>
        </p:txBody>
      </p:sp>
      <p:sp>
        <p:nvSpPr>
          <p:cNvPr id="4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0A47CBA2-9292-49E5-A5F9-3C0DBA44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12E92718-6034-47EC-BA50-8592EEF2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MAX / браузер&#10;Материал учителя">
            <a:extLst xmlns:a="http://schemas.openxmlformats.org/drawingml/2006/main">
              <a:ext uri="{FF2B5EF4-FFF2-40B4-BE49-F238E27FC236}">
                <a16:creationId xmlns:a16="http://schemas.microsoft.com/office/drawing/2014/main" id="{BCE86BA7-C382-4D9C-8616-6AAABAD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454"/>
          </a:solidFill>
          <a:ln xmlns:a="http://schemas.openxmlformats.org/drawingml/2006/main" w="13335">
            <a:solidFill>
              <a:srgbClr val="9EF1D5"/>
            </a:solidFill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MAX / браузер</a:t>
            </a:r>
          </a:p>
          <a:p xmlns:a="http://schemas.openxmlformats.org/drawingml/2006/main">
            <a:pPr algn="ctr">
              <a:defRPr sz="195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Материал учителя</a:t>
            </a:r>
          </a:p>
        </p:txBody>
      </p:sp>
      <p:sp>
        <p:nvSpPr>
          <p:cNvPr id="7" name="Flask + ИИ&#10;Черновик заданий">
            <a:extLst xmlns:a="http://schemas.openxmlformats.org/drawingml/2006/main">
              <a:ext uri="{FF2B5EF4-FFF2-40B4-BE49-F238E27FC236}">
                <a16:creationId xmlns:a16="http://schemas.microsoft.com/office/drawing/2014/main" id="{68F527B9-17C4-4B7C-9461-E6BBB8FD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632"/>
          </a:solidFill>
          <a:ln xmlns:a="http://schemas.openxmlformats.org/drawingml/2006/main" w="13335">
            <a:solidFill>
              <a:srgbClr val="80699E"/>
            </a:solidFill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Flask + ИИ</a:t>
            </a:r>
          </a:p>
          <a:p xmlns:a="http://schemas.openxmlformats.org/drawingml/2006/main">
            <a:pPr algn="ctr">
              <a:defRPr sz="1950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Черновик заданий</a:t>
            </a:r>
          </a:p>
        </p:txBody>
      </p:sp>
      <p:sp>
        <p:nvSpPr>
          <p:cNvPr id="8" name="Учитель&#10;Проверка и правки">
            <a:extLst xmlns:a="http://schemas.openxmlformats.org/drawingml/2006/main">
              <a:ext uri="{FF2B5EF4-FFF2-40B4-BE49-F238E27FC236}">
                <a16:creationId xmlns:a16="http://schemas.microsoft.com/office/drawing/2014/main" id="{349FBB46-6CA0-4966-BFFE-405E112C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47950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454"/>
          </a:solidFill>
          <a:ln xmlns:a="http://schemas.openxmlformats.org/drawingml/2006/main" w="13335">
            <a:solidFill>
              <a:srgbClr val="9EF1D5"/>
            </a:solidFill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Учитель</a:t>
            </a:r>
          </a:p>
          <a:p xmlns:a="http://schemas.openxmlformats.org/drawingml/2006/main">
            <a:pPr algn="ctr">
              <a:defRPr sz="195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Проверка и правки</a:t>
            </a:r>
          </a:p>
        </p:txBody>
      </p:sp>
      <p:sp>
        <p:nvSpPr>
          <p:cNvPr id="9" name="Поток данных">
            <a:extLst xmlns:a="http://schemas.openxmlformats.org/drawingml/2006/main">
              <a:ext uri="{FF2B5EF4-FFF2-40B4-BE49-F238E27FC236}">
                <a16:creationId xmlns:a16="http://schemas.microsoft.com/office/drawing/2014/main" id="{571FB9E0-E9F5-41F2-A72A-D18383B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289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EF1D5"/>
          </a:solidFill>
          <a:ln xmlns:a="http://schemas.openxmlformats.org/drawingml/2006/main" w="0">
            <a:noFill/>
          </a:ln>
        </p:spPr>
      </p:sp>
      <p:sp>
        <p:nvSpPr>
          <p:cNvPr id="10" name="Поток данных">
            <a:extLst xmlns:a="http://schemas.openxmlformats.org/drawingml/2006/main">
              <a:ext uri="{FF2B5EF4-FFF2-40B4-BE49-F238E27FC236}">
                <a16:creationId xmlns:a16="http://schemas.microsoft.com/office/drawing/2014/main" id="{A404D68B-9F1E-4FD0-922B-A11615E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EF1D5"/>
          </a:solidFill>
          <a:ln xmlns:a="http://schemas.openxmlformats.org/drawingml/2006/main" w="0">
            <a:noFill/>
          </a:ln>
        </p:spPr>
      </p:sp>
      <p:sp>
        <p:nvSpPr>
          <p:cNvPr id="11" name="Поток данных">
            <a:extLst xmlns:a="http://schemas.openxmlformats.org/drawingml/2006/main">
              <a:ext uri="{FF2B5EF4-FFF2-40B4-BE49-F238E27FC236}">
                <a16:creationId xmlns:a16="http://schemas.microsoft.com/office/drawing/2014/main" id="{090BB567-F317-4C2D-B143-050B035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895725"/>
            <a:ext cx="228600" cy="352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EF1D5"/>
          </a:solidFill>
          <a:ln xmlns:a="http://schemas.openxmlformats.org/drawingml/2006/main" w="0">
            <a:noFill/>
          </a:ln>
        </p:spPr>
      </p:sp>
      <p:sp>
        <p:nvSpPr>
          <p:cNvPr id="12" name="PDF для класса&#10;и ответы учителю">
            <a:extLst xmlns:a="http://schemas.openxmlformats.org/drawingml/2006/main">
              <a:ext uri="{FF2B5EF4-FFF2-40B4-BE49-F238E27FC236}">
                <a16:creationId xmlns:a16="http://schemas.microsoft.com/office/drawing/2014/main" id="{B66F7AAE-1CC9-4932-B43F-CC386E76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454"/>
          </a:solidFill>
          <a:ln xmlns:a="http://schemas.openxmlformats.org/drawingml/2006/main" w="13335">
            <a:solidFill>
              <a:srgbClr val="9EF1D5"/>
            </a:solidFill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PDF для класса</a:t>
            </a:r>
          </a:p>
          <a:p xmlns:a="http://schemas.openxmlformats.org/drawingml/2006/main">
            <a:pPr algn="ctr">
              <a:defRPr sz="195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и ответы учителю</a:t>
            </a:r>
          </a:p>
        </p:txBody>
      </p:sp>
      <p:sp>
        <p:nvSpPr>
          <p:cNvPr id="13" name="LaTeX → PDF&#10;Изолированный запуск*">
            <a:extLst xmlns:a="http://schemas.openxmlformats.org/drawingml/2006/main">
              <a:ext uri="{FF2B5EF4-FFF2-40B4-BE49-F238E27FC236}">
                <a16:creationId xmlns:a16="http://schemas.microsoft.com/office/drawing/2014/main" id="{0375AA4A-6734-4073-BE9C-E558FF3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86275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632"/>
          </a:solidFill>
          <a:ln xmlns:a="http://schemas.openxmlformats.org/drawingml/2006/main" w="13335">
            <a:solidFill>
              <a:srgbClr val="80699E"/>
            </a:solidFill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LaTeX → PDF</a:t>
            </a:r>
          </a:p>
          <a:p xmlns:a="http://schemas.openxmlformats.org/drawingml/2006/main">
            <a:pPr algn="ctr">
              <a:defRPr sz="1950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Изолированный запуск*</a:t>
            </a:r>
          </a:p>
        </p:txBody>
      </p:sp>
      <p:sp>
        <p:nvSpPr>
          <p:cNvPr id="14" name="Макет листа&#10;Содержание и поля">
            <a:extLst xmlns:a="http://schemas.openxmlformats.org/drawingml/2006/main">
              <a:ext uri="{FF2B5EF4-FFF2-40B4-BE49-F238E27FC236}">
                <a16:creationId xmlns:a16="http://schemas.microsoft.com/office/drawing/2014/main" id="{6AE277CC-3153-4963-B9D4-7BD52DBD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86275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632"/>
          </a:solidFill>
          <a:ln xmlns:a="http://schemas.openxmlformats.org/drawingml/2006/main" w="13335">
            <a:solidFill>
              <a:srgbClr val="80699E"/>
            </a:solidFill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Макет листа</a:t>
            </a:r>
          </a:p>
          <a:p xmlns:a="http://schemas.openxmlformats.org/drawingml/2006/main">
            <a:pPr algn="ctr">
              <a:defRPr sz="1950" b="0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AF8FF"/>
                </a:solidFill>
                <a:latin typeface="Arial"/>
                <a:ea typeface="Arial"/>
                <a:cs typeface="Arial"/>
              </a:rPr>
              <a:t>Содержание и поля</a:t>
            </a:r>
          </a:p>
        </p:txBody>
      </p:sp>
      <p:sp>
        <p:nvSpPr>
          <p:cNvPr id="15" name="Поток данных">
            <a:extLst xmlns:a="http://schemas.openxmlformats.org/drawingml/2006/main">
              <a:ext uri="{FF2B5EF4-FFF2-40B4-BE49-F238E27FC236}">
                <a16:creationId xmlns:a16="http://schemas.microsoft.com/office/drawing/2014/main" id="{0D3D9AB4-0593-4159-87ED-31A6423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67275"/>
            <a:ext cx="381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EF1D5"/>
          </a:solidFill>
          <a:ln xmlns:a="http://schemas.openxmlformats.org/drawingml/2006/main" w="0">
            <a:noFill/>
          </a:ln>
        </p:spPr>
      </p:sp>
      <p:sp>
        <p:nvSpPr>
          <p:cNvPr id="16" name="Поток данных">
            <a:extLst xmlns:a="http://schemas.openxmlformats.org/drawingml/2006/main">
              <a:ext uri="{FF2B5EF4-FFF2-40B4-BE49-F238E27FC236}">
                <a16:creationId xmlns:a16="http://schemas.microsoft.com/office/drawing/2014/main" id="{267E83C8-7A9B-4A3A-AD8F-64EA72A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67275"/>
            <a:ext cx="381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EF1D5"/>
          </a:solidFill>
          <a:ln xmlns:a="http://schemas.openxmlformats.org/drawingml/2006/main" w="0">
            <a:noFill/>
          </a:ln>
        </p:spPr>
      </p:sp>
      <p:sp>
        <p:nvSpPr>
          <p:cNvPr id="17" name="* Изоляция компиляции, MAX и разграничение доступа — задачи ">
            <a:extLst xmlns:a="http://schemas.openxmlformats.org/drawingml/2006/main">
              <a:ext uri="{FF2B5EF4-FFF2-40B4-BE49-F238E27FC236}">
                <a16:creationId xmlns:a16="http://schemas.microsoft.com/office/drawing/2014/main" id="{5CF3755F-481F-4331-9428-F358A226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* Изоляция компиляции, MAX и разграничение доступа — задачи адаптации</a:t>
            </a:r>
          </a:p>
        </p:txBody>
      </p:sp>
    </p:spTree>
    <p:extLst>
      <p:ext uri="{BB962C8B-B14F-4D97-AF65-F5344CB8AC3E}">
        <p14:creationId xmlns:p14="http://schemas.microsoft.com/office/powerpoint/2010/main" val="1656286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ИНТЕГРАЦИЯ">
            <a:extLst xmlns:a="http://schemas.openxmlformats.org/drawingml/2006/main">
              <a:ext uri="{FF2B5EF4-FFF2-40B4-BE49-F238E27FC236}">
                <a16:creationId xmlns:a16="http://schemas.microsoft.com/office/drawing/2014/main" id="{31F384FE-EDC5-43DC-96BA-70B25AFF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ИНТЕГРАЦИЯ</a:t>
            </a:r>
          </a:p>
        </p:txBody>
      </p:sp>
      <p:sp>
        <p:nvSpPr>
          <p:cNvPr id="2" name="Мини-приложение MAX для Сферума">
            <a:extLst xmlns:a="http://schemas.openxmlformats.org/drawingml/2006/main">
              <a:ext uri="{FF2B5EF4-FFF2-40B4-BE49-F238E27FC236}">
                <a16:creationId xmlns:a16="http://schemas.microsoft.com/office/drawing/2014/main" id="{21B54EF1-4D0F-46EC-AFE9-4BC6DEA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Мини-приложение MAX для Сферума</a:t>
            </a:r>
          </a:p>
        </p:txBody>
      </p:sp>
      <p:sp>
        <p:nvSpPr>
          <p:cNvPr id="3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8E5E0D0D-F7D1-490A-AC41-4D24F92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18128F3D-8227-4BF1-B70B-B0830383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Запуск">
            <a:extLst xmlns:a="http://schemas.openxmlformats.org/drawingml/2006/main">
              <a:ext uri="{FF2B5EF4-FFF2-40B4-BE49-F238E27FC236}">
                <a16:creationId xmlns:a16="http://schemas.microsoft.com/office/drawing/2014/main" id="{5C1D6DAB-EDFC-4A73-B439-FA4E84A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24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Запуск</a:t>
            </a:r>
          </a:p>
        </p:txBody>
      </p:sp>
      <p:sp>
        <p:nvSpPr>
          <p:cNvPr id="6" name="Бот открывает знакомый веб-сервис&#10;внутри MAX.">
            <a:extLst xmlns:a="http://schemas.openxmlformats.org/drawingml/2006/main">
              <a:ext uri="{FF2B5EF4-FFF2-40B4-BE49-F238E27FC236}">
                <a16:creationId xmlns:a16="http://schemas.microsoft.com/office/drawing/2014/main" id="{D485299F-809E-46D1-8769-9688D98A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248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Бот открывает знакомый веб-сервис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внутри MAX.</a:t>
            </a:r>
          </a:p>
        </p:txBody>
      </p:sp>
      <p:sp>
        <p:nvSpPr>
          <p:cNvPr id="7" name="Выдача результата">
            <a:extLst xmlns:a="http://schemas.openxmlformats.org/drawingml/2006/main">
              <a:ext uri="{FF2B5EF4-FFF2-40B4-BE49-F238E27FC236}">
                <a16:creationId xmlns:a16="http://schemas.microsoft.com/office/drawing/2014/main" id="{A71DA0D4-67D7-47A4-B84C-A5B413D5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90775"/>
            <a:ext cx="524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Выдача результата</a:t>
            </a:r>
          </a:p>
        </p:txBody>
      </p:sp>
      <p:sp>
        <p:nvSpPr>
          <p:cNvPr id="8" name="Учитель скачивает PDF&#10;или выбирает чат для передачи.">
            <a:extLst xmlns:a="http://schemas.openxmlformats.org/drawingml/2006/main">
              <a:ext uri="{FF2B5EF4-FFF2-40B4-BE49-F238E27FC236}">
                <a16:creationId xmlns:a16="http://schemas.microsoft.com/office/drawing/2014/main" id="{1CD9CC15-2601-4915-9818-982B11A2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95600"/>
            <a:ext cx="5248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Учитель скачивает PDF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или выбирает чат для передачи.</a:t>
            </a:r>
          </a:p>
        </p:txBody>
      </p:sp>
      <p:sp>
        <p:nvSpPr>
          <p:cNvPr id="9" name="Подключение">
            <a:extLst xmlns:a="http://schemas.openxmlformats.org/drawingml/2006/main">
              <a:ext uri="{FF2B5EF4-FFF2-40B4-BE49-F238E27FC236}">
                <a16:creationId xmlns:a16="http://schemas.microsoft.com/office/drawing/2014/main" id="{BF826F08-B352-4A57-AE8E-AACCC9E3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24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Подключение</a:t>
            </a:r>
          </a:p>
        </p:txBody>
      </p:sp>
      <p:sp>
        <p:nvSpPr>
          <p:cNvPr id="10" name="HTTPS-хостинг, MAX Bridge&#10;и проверка пользователя на сервере">
            <a:extLst xmlns:a="http://schemas.openxmlformats.org/drawingml/2006/main">
              <a:ext uri="{FF2B5EF4-FFF2-40B4-BE49-F238E27FC236}">
                <a16:creationId xmlns:a16="http://schemas.microsoft.com/office/drawing/2014/main" id="{C604BF90-2AE0-4FC5-9260-8E38147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248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HTTPS-хостинг, MAX Bridge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и проверка пользователя на сервере.</a:t>
            </a:r>
          </a:p>
        </p:txBody>
      </p:sp>
      <p:sp>
        <p:nvSpPr>
          <p:cNvPr id="11" name="Доступ команды">
            <a:extLst xmlns:a="http://schemas.openxmlformats.org/drawingml/2006/main">
              <a:ext uri="{FF2B5EF4-FFF2-40B4-BE49-F238E27FC236}">
                <a16:creationId xmlns:a16="http://schemas.microsoft.com/office/drawing/2014/main" id="{20C9591F-9593-45A1-82D3-6918ABEB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524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Доступ команды</a:t>
            </a:r>
          </a:p>
        </p:txBody>
      </p:sp>
      <p:sp>
        <p:nvSpPr>
          <p:cNvPr id="12" name="Порядок конкурсного подключения&#10;предстоит уточнить у организ">
            <a:extLst xmlns:a="http://schemas.openxmlformats.org/drawingml/2006/main">
              <a:ext uri="{FF2B5EF4-FFF2-40B4-BE49-F238E27FC236}">
                <a16:creationId xmlns:a16="http://schemas.microsoft.com/office/drawing/2014/main" id="{2865AF34-77FC-4EF2-A306-7FE5DAEA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76800"/>
            <a:ext cx="5248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Порядок конкурсного подключения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предстоит уточнить у организаторов.</a:t>
            </a:r>
          </a:p>
        </p:txBody>
      </p:sp>
    </p:spTree>
    <p:extLst>
      <p:ext uri="{BB962C8B-B14F-4D97-AF65-F5344CB8AC3E}">
        <p14:creationId xmlns:p14="http://schemas.microsoft.com/office/powerpoint/2010/main" val="1848850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ДОСТУП И РЕСУРСЫ">
            <a:extLst xmlns:a="http://schemas.openxmlformats.org/drawingml/2006/main">
              <a:ext uri="{FF2B5EF4-FFF2-40B4-BE49-F238E27FC236}">
                <a16:creationId xmlns:a16="http://schemas.microsoft.com/office/drawing/2014/main" id="{D2B3241B-604A-49A8-AACB-DD9153FF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ДОСТУП И РЕСУРСЫ</a:t>
            </a:r>
          </a:p>
        </p:txBody>
      </p:sp>
      <p:sp>
        <p:nvSpPr>
          <p:cNvPr id="2" name="ИИ без личного ключа учителя">
            <a:extLst xmlns:a="http://schemas.openxmlformats.org/drawingml/2006/main">
              <a:ext uri="{FF2B5EF4-FFF2-40B4-BE49-F238E27FC236}">
                <a16:creationId xmlns:a16="http://schemas.microsoft.com/office/drawing/2014/main" id="{B821B965-886F-47E6-A117-5CEDB1F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ИИ без личного ключа учителя</a:t>
            </a:r>
          </a:p>
        </p:txBody>
      </p:sp>
      <p:sp>
        <p:nvSpPr>
          <p:cNvPr id="3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C5674564-50DA-4B1A-9A6D-2E35084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0B65F675-058A-4DF0-953F-2825566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Учитель → сервер проекта → API модели">
            <a:extLst xmlns:a="http://schemas.openxmlformats.org/drawingml/2006/main">
              <a:ext uri="{FF2B5EF4-FFF2-40B4-BE49-F238E27FC236}">
                <a16:creationId xmlns:a16="http://schemas.microsoft.com/office/drawing/2014/main" id="{DCF3C535-2A2E-44BB-A83E-50A14581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Учитель → сервер проекта → API модели</a:t>
            </a:r>
          </a:p>
        </p:txBody>
      </p:sp>
      <p:sp>
        <p:nvSpPr>
          <p:cNvPr id="6" name="Текущая основа">
            <a:extLst xmlns:a="http://schemas.openxmlformats.org/drawingml/2006/main">
              <a:ext uri="{FF2B5EF4-FFF2-40B4-BE49-F238E27FC236}">
                <a16:creationId xmlns:a16="http://schemas.microsoft.com/office/drawing/2014/main" id="{39FBB105-4FD9-42CC-97A8-008B9DBC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24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Текущая основа</a:t>
            </a:r>
          </a:p>
        </p:txBody>
      </p:sp>
      <p:sp>
        <p:nvSpPr>
          <p:cNvPr id="7" name="GigaChat API&#10;для распознавания и генерации">
            <a:extLst xmlns:a="http://schemas.openxmlformats.org/drawingml/2006/main">
              <a:ext uri="{FF2B5EF4-FFF2-40B4-BE49-F238E27FC236}">
                <a16:creationId xmlns:a16="http://schemas.microsoft.com/office/drawing/2014/main" id="{0BDF122E-7238-4A41-AA4E-33A45C98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248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GigaChat API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для распознавания и генерации</a:t>
            </a:r>
          </a:p>
        </p:txBody>
      </p:sp>
      <p:sp>
        <p:nvSpPr>
          <p:cNvPr id="8" name="Альтернативный путь">
            <a:extLst xmlns:a="http://schemas.openxmlformats.org/drawingml/2006/main">
              <a:ext uri="{FF2B5EF4-FFF2-40B4-BE49-F238E27FC236}">
                <a16:creationId xmlns:a16="http://schemas.microsoft.com/office/drawing/2014/main" id="{955DFADC-0A13-4BE8-B3BD-0FFE49D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524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Альтернативный путь</a:t>
            </a:r>
          </a:p>
        </p:txBody>
      </p:sp>
      <p:sp>
        <p:nvSpPr>
          <p:cNvPr id="9" name="Yandex Vision OCR → YandexGPT&#10;в Yandex AI Studio">
            <a:extLst xmlns:a="http://schemas.openxmlformats.org/drawingml/2006/main">
              <a:ext uri="{FF2B5EF4-FFF2-40B4-BE49-F238E27FC236}">
                <a16:creationId xmlns:a16="http://schemas.microsoft.com/office/drawing/2014/main" id="{4B40F92C-16DD-4877-919B-1323A5E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7175"/>
            <a:ext cx="5248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Yandex Vision OCR → YandexGPT</a:t>
            </a:r>
          </a:p>
          <a:p xmlns:a="http://schemas.openxmlformats.org/drawingml/2006/main">
            <a:pPr algn="l">
              <a:defRPr sz="2025" b="0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1438"/>
                </a:solidFill>
                <a:latin typeface="Arial"/>
                <a:ea typeface="Arial"/>
                <a:cs typeface="Arial"/>
              </a:rPr>
              <a:t>в Yandex AI Studio</a:t>
            </a:r>
          </a:p>
        </p:txBody>
      </p:sp>
      <p:sp>
        <p:nvSpPr>
          <p:cNvPr id="10" name="Ключ и лимиты обслуживает проект. Партнёрская поддержка&#10;и ис">
            <a:extLst xmlns:a="http://schemas.openxmlformats.org/drawingml/2006/main">
              <a:ext uri="{FF2B5EF4-FFF2-40B4-BE49-F238E27FC236}">
                <a16:creationId xmlns:a16="http://schemas.microsoft.com/office/drawing/2014/main" id="{CDEAB2BD-C5D7-49D4-BD00-10C2D599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Ключ и лимиты обслуживает проект. Партнёрская поддержка</a:t>
            </a:r>
          </a:p>
          <a:p xmlns:a="http://schemas.openxmlformats.org/drawingml/2006/main">
            <a:pPr algn="l">
              <a:defRPr sz="1950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и источник оплаты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523238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СЛЕДУЮЩИЙ ЭТАП">
            <a:extLst xmlns:a="http://schemas.openxmlformats.org/drawingml/2006/main">
              <a:ext uri="{FF2B5EF4-FFF2-40B4-BE49-F238E27FC236}">
                <a16:creationId xmlns:a16="http://schemas.microsoft.com/office/drawing/2014/main" id="{57F6C733-0595-44CA-B905-FAF7FF9E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2" name="План конкурсной адаптации">
            <a:extLst xmlns:a="http://schemas.openxmlformats.org/drawingml/2006/main">
              <a:ext uri="{FF2B5EF4-FFF2-40B4-BE49-F238E27FC236}">
                <a16:creationId xmlns:a16="http://schemas.microsoft.com/office/drawing/2014/main" id="{F82A39B9-145C-4C56-B6B1-4F232E3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План конкурсной адаптации</a:t>
            </a:r>
          </a:p>
        </p:txBody>
      </p:sp>
      <p:sp>
        <p:nvSpPr>
          <p:cNvPr id="3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CC2E9EF4-5475-48B4-912D-B38F7A7A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E2F75385-57A1-43D2-9511-02E0859C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6D1A2E5B-9466-455E-B54F-06AD9EDB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Воспроизводимый запуск">
            <a:extLst xmlns:a="http://schemas.openxmlformats.org/drawingml/2006/main">
              <a:ext uri="{FF2B5EF4-FFF2-40B4-BE49-F238E27FC236}">
                <a16:creationId xmlns:a16="http://schemas.microsoft.com/office/drawing/2014/main" id="{2194627D-93D0-409D-BB57-5B86667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38375"/>
            <a:ext cx="9858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Воспроизводимый запуск</a:t>
            </a:r>
          </a:p>
        </p:txBody>
      </p:sp>
      <p:sp>
        <p:nvSpPr>
          <p:cNvPr id="7" name="Настройки, маршруты, понятные ошибки">
            <a:extLst xmlns:a="http://schemas.openxmlformats.org/drawingml/2006/main">
              <a:ext uri="{FF2B5EF4-FFF2-40B4-BE49-F238E27FC236}">
                <a16:creationId xmlns:a16="http://schemas.microsoft.com/office/drawing/2014/main" id="{5752C56E-BBBB-407A-8F40-6E4787F4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47950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Настройки, маршруты, понятные ошибки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B71F1D95-DA90-4A3C-A0D8-321577F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Надёжный рабочий лист">
            <a:extLst xmlns:a="http://schemas.openxmlformats.org/drawingml/2006/main">
              <a:ext uri="{FF2B5EF4-FFF2-40B4-BE49-F238E27FC236}">
                <a16:creationId xmlns:a16="http://schemas.microsoft.com/office/drawing/2014/main" id="{5AA9C0A1-E58A-488E-9F2D-DAD2EDE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9858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Надёжный рабочий лист</a:t>
            </a:r>
          </a:p>
        </p:txBody>
      </p:sp>
      <p:sp>
        <p:nvSpPr>
          <p:cNvPr id="10" name="PDF-сканы, проверка формул, безопасная сборка">
            <a:extLst xmlns:a="http://schemas.openxmlformats.org/drawingml/2006/main">
              <a:ext uri="{FF2B5EF4-FFF2-40B4-BE49-F238E27FC236}">
                <a16:creationId xmlns:a16="http://schemas.microsoft.com/office/drawing/2014/main" id="{8F1CE0C0-9470-45F1-AEAD-E76BBA11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52825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PDF-сканы, проверка формул, безопасная сборка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C3D159A8-D5E2-4A90-9D58-EC69C4D2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Подключение MAX">
            <a:extLst xmlns:a="http://schemas.openxmlformats.org/drawingml/2006/main">
              <a:ext uri="{FF2B5EF4-FFF2-40B4-BE49-F238E27FC236}">
                <a16:creationId xmlns:a16="http://schemas.microsoft.com/office/drawing/2014/main" id="{11B5508E-DBA5-4494-BFF7-A1C508A6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48125"/>
            <a:ext cx="9858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Подключение MAX</a:t>
            </a:r>
          </a:p>
        </p:txBody>
      </p:sp>
      <p:sp>
        <p:nvSpPr>
          <p:cNvPr id="13" name="Вход пользователя и передача готового PDF">
            <a:extLst xmlns:a="http://schemas.openxmlformats.org/drawingml/2006/main">
              <a:ext uri="{FF2B5EF4-FFF2-40B4-BE49-F238E27FC236}">
                <a16:creationId xmlns:a16="http://schemas.microsoft.com/office/drawing/2014/main" id="{0B2913EC-2244-4FD6-8BC2-9BA05CC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457700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Вход пользователя и передача готового PDF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18FB4F6F-7DC4-4604-9767-05F730A7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Пилот и исправления">
            <a:extLst xmlns:a="http://schemas.openxmlformats.org/drawingml/2006/main">
              <a:ext uri="{FF2B5EF4-FFF2-40B4-BE49-F238E27FC236}">
                <a16:creationId xmlns:a16="http://schemas.microsoft.com/office/drawing/2014/main" id="{2382BA85-A9B4-4797-AE1F-D423EC91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53000"/>
            <a:ext cx="9858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14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1438"/>
                </a:solidFill>
                <a:latin typeface="Arial"/>
                <a:ea typeface="Arial"/>
                <a:cs typeface="Arial"/>
              </a:rPr>
              <a:t>Пилот и исправления</a:t>
            </a:r>
          </a:p>
        </p:txBody>
      </p:sp>
      <p:sp>
        <p:nvSpPr>
          <p:cNvPr id="16" name="Занятия, замеры времени, обратная связь">
            <a:extLst xmlns:a="http://schemas.openxmlformats.org/drawingml/2006/main">
              <a:ext uri="{FF2B5EF4-FFF2-40B4-BE49-F238E27FC236}">
                <a16:creationId xmlns:a16="http://schemas.microsoft.com/office/drawing/2014/main" id="{96FAFC38-8450-4697-887E-07A20C5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362575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5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5975"/>
                </a:solidFill>
                <a:latin typeface="Arial"/>
                <a:ea typeface="Arial"/>
                <a:cs typeface="Arial"/>
              </a:rPr>
              <a:t>Занятия, замеры времени, обратная связь</a:t>
            </a:r>
          </a:p>
        </p:txBody>
      </p:sp>
      <p:sp>
        <p:nvSpPr>
          <p:cNvPr id="17" name="Ресурсы: сервер · доступ к ИИ · MAX · контейнер для PDF">
            <a:extLst xmlns:a="http://schemas.openxmlformats.org/drawingml/2006/main">
              <a:ext uri="{FF2B5EF4-FFF2-40B4-BE49-F238E27FC236}">
                <a16:creationId xmlns:a16="http://schemas.microsoft.com/office/drawing/2014/main" id="{D3EA0FFC-A41D-4F83-AE66-F6CC92AB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0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541D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41D4"/>
                </a:solidFill>
                <a:latin typeface="Arial"/>
                <a:ea typeface="Arial"/>
                <a:cs typeface="Arial"/>
              </a:rPr>
              <a:t>Ресурсы: сервер · доступ к ИИ · MAX · контейнер для PDF</a:t>
            </a:r>
          </a:p>
        </p:txBody>
      </p:sp>
    </p:spTree>
    <p:extLst>
      <p:ext uri="{BB962C8B-B14F-4D97-AF65-F5344CB8AC3E}">
        <p14:creationId xmlns:p14="http://schemas.microsoft.com/office/powerpoint/2010/main" val="349031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0D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ИТОГ">
            <a:extLst xmlns:a="http://schemas.openxmlformats.org/drawingml/2006/main">
              <a:ext uri="{FF2B5EF4-FFF2-40B4-BE49-F238E27FC236}">
                <a16:creationId xmlns:a16="http://schemas.microsoft.com/office/drawing/2014/main" id="{802C37E7-70E0-47F5-9044-3A9BD6FB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2" name="Два аргумента за «ЛистОК»">
            <a:extLst xmlns:a="http://schemas.openxmlformats.org/drawingml/2006/main">
              <a:ext uri="{FF2B5EF4-FFF2-40B4-BE49-F238E27FC236}">
                <a16:creationId xmlns:a16="http://schemas.microsoft.com/office/drawing/2014/main" id="{07AEC87A-564D-4A55-84BC-5B871CA1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Два аргумента за «ЛистОК»</a:t>
            </a:r>
          </a:p>
        </p:txBody>
      </p:sp>
      <p:sp>
        <p:nvSpPr>
          <p:cNvPr id="3" name="ЛистОК  /  «Арсенал мастера»">
            <a:extLst xmlns:a="http://schemas.openxmlformats.org/drawingml/2006/main">
              <a:ext uri="{FF2B5EF4-FFF2-40B4-BE49-F238E27FC236}">
                <a16:creationId xmlns:a16="http://schemas.microsoft.com/office/drawing/2014/main" id="{65CB1BA8-6F1F-47C6-B257-D2D9E70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ЛистОК  /  «Арсенал мастера»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22B02057-0754-42C2-AE05-10B0F9DF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674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07C0D53-F895-41AB-B71A-81B6AB54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Свои материалы и контроль учителя">
            <a:extLst xmlns:a="http://schemas.openxmlformats.org/drawingml/2006/main">
              <a:ext uri="{FF2B5EF4-FFF2-40B4-BE49-F238E27FC236}">
                <a16:creationId xmlns:a16="http://schemas.microsoft.com/office/drawing/2014/main" id="{AE705C5A-52EC-4E89-9002-D65BA8F2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352675"/>
            <a:ext cx="9867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Свои материалы и контроль учителя</a:t>
            </a:r>
          </a:p>
        </p:txBody>
      </p:sp>
      <p:sp>
        <p:nvSpPr>
          <p:cNvPr id="7" name="ИИ готовит черновик; педагог решает, что получит класс.">
            <a:extLst xmlns:a="http://schemas.openxmlformats.org/drawingml/2006/main">
              <a:ext uri="{FF2B5EF4-FFF2-40B4-BE49-F238E27FC236}">
                <a16:creationId xmlns:a16="http://schemas.microsoft.com/office/drawing/2014/main" id="{8C02989D-5682-43C2-AA91-8C1F2998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124200"/>
            <a:ext cx="9867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ИИ готовит черновик; педагог решает, что получит класс.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1DA556A7-3A4E-4228-9BDA-49918B1B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EF1D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Развитие существующего прототипа">
            <a:extLst xmlns:a="http://schemas.openxmlformats.org/drawingml/2006/main">
              <a:ext uri="{FF2B5EF4-FFF2-40B4-BE49-F238E27FC236}">
                <a16:creationId xmlns:a16="http://schemas.microsoft.com/office/drawing/2014/main" id="{E2C4FC53-2A94-4B6D-969D-7BE7F808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2291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F8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AF8FF"/>
                </a:solidFill>
                <a:latin typeface="Arial"/>
                <a:ea typeface="Arial"/>
                <a:cs typeface="Arial"/>
              </a:rPr>
              <a:t>Развитие существующего прототипа</a:t>
            </a:r>
          </a:p>
        </p:txBody>
      </p:sp>
      <p:sp>
        <p:nvSpPr>
          <p:cNvPr id="10" name="Следующий шаг — надёжная генерация и удобный запуск в MAX.">
            <a:extLst xmlns:a="http://schemas.openxmlformats.org/drawingml/2006/main">
              <a:ext uri="{FF2B5EF4-FFF2-40B4-BE49-F238E27FC236}">
                <a16:creationId xmlns:a16="http://schemas.microsoft.com/office/drawing/2014/main" id="{2DE7ACEB-CDA7-4A8C-9F68-417AE435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00625"/>
            <a:ext cx="986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C9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C9F5"/>
                </a:solidFill>
                <a:latin typeface="Arial"/>
                <a:ea typeface="Arial"/>
                <a:cs typeface="Arial"/>
              </a:rPr>
              <a:t>Следующий шаг — надёжная генерация и удобный запуск в MAX.</a:t>
            </a:r>
          </a:p>
        </p:txBody>
      </p:sp>
      <p:sp>
        <p:nvSpPr>
          <p:cNvPr id="11" name="github.com/pavelneumoin/worksheet-creator">
            <a:extLst xmlns:a="http://schemas.openxmlformats.org/drawingml/2006/main">
              <a:ext uri="{FF2B5EF4-FFF2-40B4-BE49-F238E27FC236}">
                <a16:creationId xmlns:a16="http://schemas.microsoft.com/office/drawing/2014/main" id="{B4245D5D-3B0E-41B8-B779-3DDC8B86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EF1D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EF1D5"/>
                </a:solidFill>
                <a:latin typeface="Arial"/>
                <a:ea typeface="Arial"/>
                <a:cs typeface="Arial"/>
              </a:rPr>
              <a:t>github.com/pavelneumoin/worksheet-creator</a:t>
            </a:r>
          </a:p>
        </p:txBody>
      </p:sp>
    </p:spTree>
    <p:extLst>
      <p:ext uri="{BB962C8B-B14F-4D97-AF65-F5344CB8AC3E}">
        <p14:creationId xmlns:p14="http://schemas.microsoft.com/office/powerpoint/2010/main" val="206264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2026-09-27T10:24:33.7330000Z</dcterms:created>
  <dcterms:modified xsi:type="dcterms:W3CDTF">2026-09-27T10:24:33.7340000Z</dcterms:modified>
</coreProperties>
</file>